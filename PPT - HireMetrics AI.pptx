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230" r:id="rId1"/>
  </p:sldMasterIdLst>
  <p:notesMasterIdLst>
    <p:notesMasterId r:id="rId15"/>
  </p:notesMasterIdLst>
  <p:sldIdLst>
    <p:sldId id="483" r:id="rId2"/>
    <p:sldId id="484" r:id="rId3"/>
    <p:sldId id="470" r:id="rId4"/>
    <p:sldId id="488" r:id="rId5"/>
    <p:sldId id="478" r:id="rId6"/>
    <p:sldId id="482" r:id="rId7"/>
    <p:sldId id="486" r:id="rId8"/>
    <p:sldId id="489" r:id="rId9"/>
    <p:sldId id="490" r:id="rId10"/>
    <p:sldId id="485" r:id="rId11"/>
    <p:sldId id="487" r:id="rId12"/>
    <p:sldId id="473" r:id="rId13"/>
    <p:sldId id="468" r:id="rId14"/>
  </p:sldIdLst>
  <p:sldSz cx="12192000" cy="6858000"/>
  <p:notesSz cx="6954838" cy="93091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1180"/>
    <a:srgbClr val="FF3300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47" autoAdjust="0"/>
    <p:restoredTop sz="94434" autoAdjust="0"/>
  </p:normalViewPr>
  <p:slideViewPr>
    <p:cSldViewPr snapToGrid="0">
      <p:cViewPr varScale="1">
        <p:scale>
          <a:sx n="51" d="100"/>
          <a:sy n="51" d="100"/>
        </p:scale>
        <p:origin x="1051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893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91A9256-F9C8-48F3-9246-288820D197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08C6F2-4266-4213-8BF4-8EA0CDC970F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940175" y="0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5AA20220-E8D3-4BE8-9E9D-D5B982467646}" type="datetimeFigureOut">
              <a:rPr lang="en-US"/>
              <a:pPr>
                <a:defRPr/>
              </a:pPr>
              <a:t>8/6/2026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B13A30F-9520-44F4-81B2-1BCC447DE5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63638"/>
            <a:ext cx="5583238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30" tIns="46465" rIns="92930" bIns="46465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266252B-3FF1-4DA9-A03B-C61619A410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5325" y="4479925"/>
            <a:ext cx="5564188" cy="3665538"/>
          </a:xfrm>
          <a:prstGeom prst="rect">
            <a:avLst/>
          </a:prstGeom>
        </p:spPr>
        <p:txBody>
          <a:bodyPr vert="horz" lIns="92930" tIns="46465" rIns="92930" bIns="46465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DEBF4-55D6-4B92-B2C6-9B4374F6BE7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842375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8A1201-67BC-4B63-9687-0E19225243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40175" y="8842375"/>
            <a:ext cx="3013075" cy="466725"/>
          </a:xfrm>
          <a:prstGeom prst="rect">
            <a:avLst/>
          </a:prstGeom>
        </p:spPr>
        <p:txBody>
          <a:bodyPr vert="horz" wrap="square" lIns="92930" tIns="46465" rIns="92930" bIns="46465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6A1ABE2-8A9C-4371-A477-2D85B6949AD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719459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4198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57341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56918-D4B3-422F-BFF9-D10393CB1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984284-C742-4CDE-BCD1-55F1EACCE4BD}" type="datetime1">
              <a:rPr lang="en-US"/>
              <a:pPr>
                <a:defRPr/>
              </a:pPr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2B6A4-3E11-4AFE-97A2-755EDA1DD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D3FD1-471F-422B-AFB8-CC8FCE5DC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AC8F4A-8BCF-4389-A68F-ABDBB8A3846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8394844"/>
      </p:ext>
    </p:extLst>
  </p:cSld>
  <p:clrMapOvr>
    <a:masterClrMapping/>
  </p:clrMapOvr>
  <p:transition spd="slow">
    <p:blinds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B27E7-0E5F-45FD-B9BC-82F6ACE50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400D6F-81A6-4CA0-8B3C-34372C62B661}" type="datetime1">
              <a:rPr lang="en-US"/>
              <a:pPr>
                <a:defRPr/>
              </a:pPr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0F7A6-907E-418D-ABF6-CE0D106D2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6D880-0EA6-4FCD-A723-C39323563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5EC703-C051-410C-8BA1-62752E291E8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9887381"/>
      </p:ext>
    </p:extLst>
  </p:cSld>
  <p:clrMapOvr>
    <a:masterClrMapping/>
  </p:clrMapOvr>
  <p:transition spd="slow">
    <p:blinds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DAA96-8682-4C88-9622-87E036243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3234D9-D072-4920-821D-BED01FCB7247}" type="datetime1">
              <a:rPr lang="en-US"/>
              <a:pPr>
                <a:defRPr/>
              </a:pPr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29450-6172-4A34-B37F-64FAD195B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A622E-84FA-417F-BD5A-BE81A4899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A17B78-0E85-43B3-B804-1DD2F629C18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3603393"/>
      </p:ext>
    </p:extLst>
  </p:cSld>
  <p:clrMapOvr>
    <a:masterClrMapping/>
  </p:clrMapOvr>
  <p:transition spd="slow">
    <p:blinds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0375BCC-EEE9-412B-A532-7314FE84B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A9FD15-50EB-4E55-A7AC-5D569B5B3C80}" type="datetime1">
              <a:rPr lang="en-US"/>
              <a:pPr>
                <a:defRPr/>
              </a:pPr>
              <a:t>8/6/2026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E5CB5DD-B599-4B4E-BFCE-CB9E35FBC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7CE3315-9445-4BB5-89D3-235E587AB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0EC4D6-2A5D-45C1-86E3-8BE19A62D20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1645173"/>
      </p:ext>
    </p:extLst>
  </p:cSld>
  <p:clrMapOvr>
    <a:masterClrMapping/>
  </p:clrMapOvr>
  <p:transition spd="slow">
    <p:blinds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30AD5EF-C609-4119-B375-3771413B4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50B61E-D197-4188-943F-30B5936FC2F9}" type="datetime1">
              <a:rPr lang="en-US"/>
              <a:pPr>
                <a:defRPr/>
              </a:pPr>
              <a:t>8/6/2026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8A9EBF0-B7B0-4583-92AB-A3431DE62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83BC57B-A7E4-4277-9D46-579496497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F6C894-F542-45DE-85A4-2725CE9249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0619855"/>
      </p:ext>
    </p:extLst>
  </p:cSld>
  <p:clrMapOvr>
    <a:masterClrMapping/>
  </p:clrMapOvr>
  <p:transition spd="slow">
    <p:blinds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1D81C82-41E3-4C7D-816C-58F99A170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D41E7F-6671-4D2D-B6AD-20E102447CE3}" type="datetime1">
              <a:rPr lang="en-US"/>
              <a:pPr>
                <a:defRPr/>
              </a:pPr>
              <a:t>8/6/2026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1C23C57-193A-4FFE-AF84-5DDAD5045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00AA421-04F3-46DC-9A65-181848BF7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9318FD-4EEC-4C57-A972-0B24B85155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4775401"/>
      </p:ext>
    </p:extLst>
  </p:cSld>
  <p:clrMapOvr>
    <a:masterClrMapping/>
  </p:clrMapOvr>
  <p:transition spd="slow">
    <p:blinds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3218A1C0-5E86-44FA-96CE-D0C3A0911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E11748-68B0-424D-A128-8EE4A2F1567E}" type="datetime1">
              <a:rPr lang="en-US"/>
              <a:pPr>
                <a:defRPr/>
              </a:pPr>
              <a:t>8/6/2026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C30598B-A85E-40F2-B0F9-CC04D8E3F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20ADC7C-B221-49C5-9757-EBEBB0F92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195F4C-44D2-4F45-A0AC-21646A9D27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9266658"/>
      </p:ext>
    </p:extLst>
  </p:cSld>
  <p:clrMapOvr>
    <a:masterClrMapping/>
  </p:clrMapOvr>
  <p:transition spd="slow">
    <p:blinds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79DD4CF-015F-4F62-A63C-9D088FAC4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94E8B7-7DCF-4AE2-ACBE-26DA6EBB7347}" type="datetime1">
              <a:rPr lang="en-US"/>
              <a:pPr>
                <a:defRPr/>
              </a:pPr>
              <a:t>8/6/2026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F56518C-25E4-4791-80CF-9603927DE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46B593C-043B-40F1-98DA-B1906E58E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D429D7-E526-4101-969E-B40B8D8E48C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8220043"/>
      </p:ext>
    </p:extLst>
  </p:cSld>
  <p:clrMapOvr>
    <a:masterClrMapping/>
  </p:clrMapOvr>
  <p:transition spd="slow">
    <p:blinds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B5A9D87-E05A-4D16-A703-1E97A8BA2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8AEAC7-C2C3-44AF-AB2E-36A1774D5378}" type="datetime1">
              <a:rPr lang="en-US"/>
              <a:pPr>
                <a:defRPr/>
              </a:pPr>
              <a:t>8/6/2026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0E92F1C-94F6-478A-96CC-20CEB3BF8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1659F05-47D4-46F4-A7AC-A02AE18D3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6FD7F1-16F9-4E12-83AD-C4245146BA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9370667"/>
      </p:ext>
    </p:extLst>
  </p:cSld>
  <p:clrMapOvr>
    <a:masterClrMapping/>
  </p:clrMapOvr>
  <p:transition spd="slow">
    <p:blinds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AAE25-87DE-4998-B6CE-F47978987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2336F-006F-49C3-8FF0-2416E12056BA}" type="datetime1">
              <a:rPr lang="en-US"/>
              <a:pPr>
                <a:defRPr/>
              </a:pPr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9861B-6D3E-4215-A3D0-377EC12DA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5A02C-FFC9-401E-8BCD-D06F65B16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CA2AFE-CAB8-4467-80DC-C3A4FC1E27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6143411"/>
      </p:ext>
    </p:extLst>
  </p:cSld>
  <p:clrMapOvr>
    <a:masterClrMapping/>
  </p:clrMapOvr>
  <p:transition spd="slow">
    <p:blinds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B4638-3310-4031-B55D-BE295B1A7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683BFA-96BB-4329-BF2F-32F59AFA4E79}" type="datetime1">
              <a:rPr lang="en-US"/>
              <a:pPr>
                <a:defRPr/>
              </a:pPr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7728E-C01A-4686-AD71-F7B61E820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C71C28-1E00-4F0A-8B9D-A0E460685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DD8426-6957-4B5B-B927-2BE994D1B7C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399607"/>
      </p:ext>
    </p:extLst>
  </p:cSld>
  <p:clrMapOvr>
    <a:masterClrMapping/>
  </p:clrMapOvr>
  <p:transition spd="slow">
    <p:blinds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D9A3E1B4-65C6-415A-9681-D05B402B0E8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0C566853-DAEB-4CB7-818F-723C37230FE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BD739-9829-4F69-BC53-75013DDD18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46687D5-4D00-474F-82B8-FCFBD98170F5}" type="datetime1">
              <a:rPr lang="en-US"/>
              <a:pPr>
                <a:defRPr/>
              </a:pPr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F0A4C-9308-45AA-A1AA-7B038DC01F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AE0DB-89DF-4A35-9269-9E85DEA2E3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ADBF7CE3-29D9-4203-A481-45960E7661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031" name="Picture 7">
            <a:extLst>
              <a:ext uri="{FF2B5EF4-FFF2-40B4-BE49-F238E27FC236}">
                <a16:creationId xmlns:a16="http://schemas.microsoft.com/office/drawing/2014/main" id="{102663E2-6C69-49E4-9FEB-A0ED3DD955F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53025"/>
            <a:ext cx="12192000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31" r:id="rId1"/>
    <p:sldLayoutId id="2147484232" r:id="rId2"/>
    <p:sldLayoutId id="2147484233" r:id="rId3"/>
    <p:sldLayoutId id="2147484234" r:id="rId4"/>
    <p:sldLayoutId id="2147484235" r:id="rId5"/>
    <p:sldLayoutId id="2147484236" r:id="rId6"/>
    <p:sldLayoutId id="2147484237" r:id="rId7"/>
    <p:sldLayoutId id="2147484238" r:id="rId8"/>
    <p:sldLayoutId id="2147484239" r:id="rId9"/>
    <p:sldLayoutId id="2147484240" r:id="rId10"/>
    <p:sldLayoutId id="2147484241" r:id="rId11"/>
  </p:sldLayoutIdLst>
  <p:transition spd="slow">
    <p:blinds dir="vert"/>
  </p:transition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</a:t>
            </a:r>
            <a:r>
              <a:rPr lang="en-GB" sz="2000" b="1" i="0" u="none" strike="noStrike" cap="none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Supervision</a:t>
            </a: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Kavin Mahendhiran &amp; Mr. Asad Mohammed Khan</a:t>
            </a: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86072" y="4088074"/>
            <a:ext cx="12009870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COMPUTER SCIENCE &amp; TECHNOLOGY</a:t>
            </a:r>
            <a:endParaRPr lang="en-US" sz="2000" b="1" i="0" u="none" strike="noStrike" cap="none" dirty="0"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Pallavi R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 </a:t>
            </a:r>
            <a:r>
              <a:rPr lang="en-US" sz="2000" b="1" i="0" u="none" strike="noStrike" cap="none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Akash Dubey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Coordinators: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Bhuvaneshwari Patil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CSE7000 -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Presentation on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ARTIFICIAL INTELLIGENCE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6955367"/>
              </p:ext>
            </p:extLst>
          </p:nvPr>
        </p:nvGraphicFramePr>
        <p:xfrm>
          <a:off x="601909" y="1911875"/>
          <a:ext cx="4884491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513221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DIVYA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20241CSG0015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5CSG01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0239800"/>
      </p:ext>
    </p:extLst>
  </p:cSld>
  <p:clrMapOvr>
    <a:masterClrMapping/>
  </p:clrMapOvr>
  <p:transition spd="slow">
    <p:blinds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78759" y="762138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Used / Course Description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Results (Optional)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Conclusion</a:t>
            </a:r>
            <a:endParaRPr lang="en-IN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4648573"/>
      </p:ext>
    </p:extLst>
  </p:cSld>
  <p:clrMapOvr>
    <a:masterClrMapping/>
  </p:clrMapOvr>
  <p:transition spd="slow">
    <p:blinds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3601920"/>
          </a:xfrm>
        </p:spPr>
        <p:txBody>
          <a:bodyPr/>
          <a:lstStyle/>
          <a:p>
            <a:pPr lvl="0"/>
            <a:r>
              <a:rPr lang="en-IN" sz="2000" b="1" dirty="0"/>
              <a:t>Organization Overview:</a:t>
            </a:r>
            <a:endParaRPr lang="en-IN" sz="2000" dirty="0"/>
          </a:p>
          <a:p>
            <a:pPr lvl="1"/>
            <a:r>
              <a:rPr lang="en-IN" sz="2000" b="1" dirty="0"/>
              <a:t>Entity:</a:t>
            </a:r>
            <a:r>
              <a:rPr lang="en-IN" sz="2000" dirty="0"/>
              <a:t> </a:t>
            </a:r>
            <a:r>
              <a:rPr lang="en-IN" sz="2000" dirty="0" err="1"/>
              <a:t>InternSpark</a:t>
            </a:r>
            <a:r>
              <a:rPr lang="en-IN" sz="2000" dirty="0"/>
              <a:t> is an online internship and skill-development platform operated under </a:t>
            </a:r>
            <a:r>
              <a:rPr lang="en-IN" sz="2000" b="1" dirty="0" err="1"/>
              <a:t>Alfido</a:t>
            </a:r>
            <a:r>
              <a:rPr lang="en-IN" sz="2000" b="1" dirty="0"/>
              <a:t> Tech</a:t>
            </a:r>
            <a:r>
              <a:rPr lang="en-IN" sz="2000" dirty="0"/>
              <a:t>. </a:t>
            </a:r>
          </a:p>
          <a:p>
            <a:pPr lvl="1"/>
            <a:r>
              <a:rPr lang="en-IN" sz="2000" b="1" dirty="0"/>
              <a:t>Location:</a:t>
            </a:r>
            <a:r>
              <a:rPr lang="en-IN" sz="2000" dirty="0"/>
              <a:t> Headquartered in </a:t>
            </a:r>
            <a:r>
              <a:rPr lang="en-IN" sz="2000" b="1" dirty="0"/>
              <a:t>Bengaluru, Karnataka, India</a:t>
            </a:r>
            <a:r>
              <a:rPr lang="en-IN" sz="2000" dirty="0"/>
              <a:t>. </a:t>
            </a:r>
          </a:p>
          <a:p>
            <a:pPr lvl="1"/>
            <a:r>
              <a:rPr lang="en-IN" sz="2000" b="1" dirty="0"/>
              <a:t>Core Mission:</a:t>
            </a:r>
            <a:r>
              <a:rPr lang="en-IN" sz="2000" dirty="0"/>
              <a:t> To bridge academic learning and real-world technology industry requirements through practical, project-based remote programs. </a:t>
            </a:r>
          </a:p>
          <a:p>
            <a:pPr lvl="0"/>
            <a:r>
              <a:rPr lang="en-IN" sz="2000" b="1" dirty="0"/>
              <a:t>Key Certifications &amp; Quality Standards:</a:t>
            </a:r>
            <a:endParaRPr lang="en-IN" sz="2000" dirty="0"/>
          </a:p>
          <a:p>
            <a:pPr lvl="1"/>
            <a:r>
              <a:rPr lang="en-IN" sz="2000" b="1" dirty="0"/>
              <a:t>ISO 9001:2015 Certified:</a:t>
            </a:r>
            <a:r>
              <a:rPr lang="en-IN" sz="2000" dirty="0"/>
              <a:t> Adheres to international standards for quality management systems in training delivery. </a:t>
            </a:r>
          </a:p>
          <a:p>
            <a:pPr lvl="1"/>
            <a:r>
              <a:rPr lang="en-IN" sz="2000" b="1" dirty="0"/>
              <a:t>MSME Registered:</a:t>
            </a:r>
            <a:r>
              <a:rPr lang="en-IN" sz="2000" dirty="0"/>
              <a:t> Recognized by the Ministry of Micro, Small &amp; Medium Enterprises, Govt. of India. </a:t>
            </a:r>
          </a:p>
          <a:p>
            <a:pPr lvl="1"/>
            <a:r>
              <a:rPr lang="en-IN" sz="2000" b="1" dirty="0"/>
              <a:t>AICTE Guidelines Alignment:</a:t>
            </a:r>
            <a:r>
              <a:rPr lang="en-IN" sz="2000" dirty="0"/>
              <a:t> Certificate and learning structures strictly align with technical education framework standards.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6428933"/>
      </p:ext>
    </p:extLst>
  </p:cSld>
  <p:clrMapOvr>
    <a:masterClrMapping/>
  </p:clrMapOvr>
  <p:transition spd="slow">
    <p:blinds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8170E-A36E-2719-BBD6-E6EC50DD9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563" y="-166720"/>
            <a:ext cx="10515600" cy="1325563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E8978-A146-6FBA-8932-2C60A5B5B3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637" y="883233"/>
            <a:ext cx="10515600" cy="4351338"/>
          </a:xfrm>
        </p:spPr>
        <p:txBody>
          <a:bodyPr/>
          <a:lstStyle/>
          <a:p>
            <a:pPr lvl="0"/>
            <a:r>
              <a:rPr lang="en-IN" sz="2000" b="1" dirty="0"/>
              <a:t>Products &amp; Services:</a:t>
            </a:r>
            <a:endParaRPr lang="en-IN" sz="2000" dirty="0"/>
          </a:p>
          <a:p>
            <a:pPr lvl="1"/>
            <a:r>
              <a:rPr lang="en-IN" sz="2000" b="1" dirty="0"/>
              <a:t>Virtual Internships:</a:t>
            </a:r>
            <a:r>
              <a:rPr lang="en-IN" sz="2000" dirty="0"/>
              <a:t> Hands-on programs in high-demand technical domains including Artificial Intelligence, Natural Language Processing, and Computer Vision. </a:t>
            </a:r>
          </a:p>
          <a:p>
            <a:pPr lvl="1"/>
            <a:r>
              <a:rPr lang="en-IN" sz="2000" b="1" dirty="0"/>
              <a:t>Task-Based Learning Engine:</a:t>
            </a:r>
            <a:r>
              <a:rPr lang="en-IN" sz="2000" dirty="0"/>
              <a:t> Real-world simulated assignments evaluated daily by industry mentors. </a:t>
            </a:r>
          </a:p>
          <a:p>
            <a:pPr lvl="1"/>
            <a:r>
              <a:rPr lang="en-IN" sz="2000" b="1" dirty="0"/>
              <a:t>Verified Career Credentials:</a:t>
            </a:r>
            <a:r>
              <a:rPr lang="en-IN" sz="2000" dirty="0"/>
              <a:t> Offers QR-verified Internship Certificates, Report Cards, and official Letters of Recommendation (LOR). </a:t>
            </a:r>
          </a:p>
          <a:p>
            <a:pPr lvl="0"/>
            <a:r>
              <a:rPr lang="en-IN" sz="2000" b="1" dirty="0"/>
              <a:t>Clients &amp; Primary Beneficiaries:</a:t>
            </a:r>
            <a:endParaRPr lang="en-IN" sz="2000" dirty="0"/>
          </a:p>
          <a:p>
            <a:pPr lvl="1"/>
            <a:r>
              <a:rPr lang="en-IN" sz="2000" b="1" dirty="0"/>
              <a:t>Students &amp; Graduates:</a:t>
            </a:r>
            <a:r>
              <a:rPr lang="en-IN" sz="2000" dirty="0"/>
              <a:t> Early-career tech aspirants building practical portfolios and job-ready skills. </a:t>
            </a:r>
          </a:p>
          <a:p>
            <a:pPr lvl="1"/>
            <a:r>
              <a:rPr lang="en-IN" sz="2000" b="1" dirty="0"/>
              <a:t>Academic Institutions:</a:t>
            </a:r>
            <a:r>
              <a:rPr lang="en-IN" sz="2000" dirty="0"/>
              <a:t> Technical colleges integrating structured, verified virtual internship models into their academic requirements.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275B78-FFD4-D7D8-7242-0021E17C0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8031481"/>
      </p:ext>
    </p:extLst>
  </p:cSld>
  <p:clrMapOvr>
    <a:masterClrMapping/>
  </p:clrMapOvr>
  <p:transition spd="slow">
    <p:blinds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412" y="-68748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4988" y="602198"/>
            <a:ext cx="10515600" cy="4058194"/>
          </a:xfrm>
        </p:spPr>
        <p:txBody>
          <a:bodyPr/>
          <a:lstStyle/>
          <a:p>
            <a:pPr lvl="0"/>
            <a:r>
              <a:rPr lang="en-IN" sz="1500" b="1" dirty="0"/>
              <a:t>Assigned Domain:</a:t>
            </a:r>
            <a:r>
              <a:rPr lang="en-IN" sz="1500" dirty="0"/>
              <a:t> Artificial Intelligence (AI) &amp; Natural Language Processing (NLP)</a:t>
            </a:r>
          </a:p>
          <a:p>
            <a:pPr lvl="0"/>
            <a:r>
              <a:rPr lang="en-IN" sz="1500" b="1" dirty="0"/>
              <a:t>Domain Scope:</a:t>
            </a:r>
            <a:r>
              <a:rPr lang="en-IN" sz="1500" dirty="0"/>
              <a:t> Processing unstructured resume documents, evaluating contextual candidate-job alignment, and diagnosing ATS formatting compliance.</a:t>
            </a:r>
          </a:p>
          <a:p>
            <a:pPr lvl="0"/>
            <a:r>
              <a:rPr lang="en-IN" sz="1500" b="1" dirty="0"/>
              <a:t>Core Technical Stack:</a:t>
            </a:r>
            <a:r>
              <a:rPr lang="en-IN" sz="1500" dirty="0"/>
              <a:t> Large Language Models (LLMs), Python NLP Tokenization Engines, OCR Text Extraction Frameworks, and </a:t>
            </a:r>
            <a:r>
              <a:rPr lang="en-IN" sz="1500" dirty="0" err="1"/>
              <a:t>Streamlit</a:t>
            </a:r>
            <a:r>
              <a:rPr lang="en-IN" sz="1500" dirty="0"/>
              <a:t> Interface Architecture.</a:t>
            </a:r>
          </a:p>
          <a:p>
            <a:pPr lvl="0"/>
            <a:r>
              <a:rPr lang="en-IN" sz="1500" b="1" dirty="0"/>
              <a:t>Key Features:</a:t>
            </a:r>
            <a:endParaRPr lang="en-IN" sz="1500" dirty="0"/>
          </a:p>
          <a:p>
            <a:pPr lvl="1"/>
            <a:r>
              <a:rPr lang="en-IN" sz="1500" b="1" dirty="0"/>
              <a:t>Multi-Format Extraction:</a:t>
            </a:r>
            <a:r>
              <a:rPr lang="en-IN" sz="1500" dirty="0"/>
              <a:t> Parses PDF, DOCX, and scanned image files into clean text using Optical Character Recognition (OCR).</a:t>
            </a:r>
          </a:p>
          <a:p>
            <a:pPr lvl="1"/>
            <a:r>
              <a:rPr lang="en-IN" sz="1500" b="1" dirty="0"/>
              <a:t>Semantic Match Scoring:</a:t>
            </a:r>
            <a:r>
              <a:rPr lang="en-IN" sz="1500" dirty="0"/>
              <a:t> Evaluates real candidate compatibility instead of relying on strict keyword repetition.</a:t>
            </a:r>
          </a:p>
          <a:p>
            <a:pPr lvl="1"/>
            <a:r>
              <a:rPr lang="en-IN" sz="1500" b="1" dirty="0"/>
              <a:t>Skill Gap Identification:</a:t>
            </a:r>
            <a:r>
              <a:rPr lang="en-IN" sz="1500" dirty="0"/>
              <a:t> Isolates present technical skills and highlights missing required competencies.</a:t>
            </a:r>
          </a:p>
          <a:p>
            <a:pPr lvl="1"/>
            <a:r>
              <a:rPr lang="en-IN" sz="1500" b="1" dirty="0"/>
              <a:t>ATS Layout Diagnostics:</a:t>
            </a:r>
            <a:r>
              <a:rPr lang="en-IN" sz="1500" dirty="0"/>
              <a:t> Audits document formatting errors, non-standard headings, and special character noise.</a:t>
            </a:r>
          </a:p>
          <a:p>
            <a:pPr lvl="1"/>
            <a:r>
              <a:rPr lang="en-IN" sz="1500" b="1" dirty="0"/>
              <a:t>Bulk Candidate Ranking:</a:t>
            </a:r>
            <a:r>
              <a:rPr lang="en-IN" sz="1500" dirty="0"/>
              <a:t> Evaluates multi-candidate applicant pools in parallel to construct automated leaderboards.</a:t>
            </a:r>
          </a:p>
          <a:p>
            <a:pPr lvl="0"/>
            <a:r>
              <a:rPr lang="en-IN" sz="1500" b="1" dirty="0"/>
              <a:t>Importance &amp; Value:</a:t>
            </a:r>
            <a:endParaRPr lang="en-IN" sz="1500" dirty="0"/>
          </a:p>
          <a:p>
            <a:pPr lvl="1"/>
            <a:r>
              <a:rPr lang="en-IN" sz="1500" b="1" dirty="0"/>
              <a:t>Eliminates Rigid ATS Filtering:</a:t>
            </a:r>
            <a:r>
              <a:rPr lang="en-IN" sz="1500" dirty="0"/>
              <a:t> Prevents qualified candidates from being rejected over simple formatting or synonym differences.</a:t>
            </a:r>
          </a:p>
          <a:p>
            <a:pPr lvl="1"/>
            <a:r>
              <a:rPr lang="en-IN" sz="1500" b="1" dirty="0"/>
              <a:t>Accelerates Recruitment:</a:t>
            </a:r>
            <a:r>
              <a:rPr lang="en-IN" sz="1500" dirty="0"/>
              <a:t> Reduces resume screening time from hours to seconds while maintaining high accuracy.</a:t>
            </a:r>
          </a:p>
          <a:p>
            <a:pPr lvl="1"/>
            <a:r>
              <a:rPr lang="en-IN" sz="1500" b="1" dirty="0"/>
              <a:t>Ensures High Reliability:</a:t>
            </a:r>
            <a:r>
              <a:rPr lang="en-IN" sz="1500" dirty="0"/>
              <a:t> Hybrid structure (Cloud LLM + Local NLP Fallback) guarantees continuous operation during network outages.</a:t>
            </a:r>
          </a:p>
          <a:p>
            <a:pPr marL="0" indent="0" algn="just">
              <a:buNone/>
            </a:pP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887700"/>
      </p:ext>
    </p:extLst>
  </p:cSld>
  <p:clrMapOvr>
    <a:masterClrMapping/>
  </p:clrMapOvr>
  <p:transition spd="slow">
    <p:blinds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18" y="0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7963" y="629731"/>
            <a:ext cx="10515600" cy="4058194"/>
          </a:xfrm>
        </p:spPr>
        <p:txBody>
          <a:bodyPr/>
          <a:lstStyle/>
          <a:p>
            <a:pPr lvl="0"/>
            <a:r>
              <a:rPr lang="en-IN" sz="1500" b="1" dirty="0"/>
              <a:t>Purpose &amp; Problem Statement:</a:t>
            </a:r>
            <a:endParaRPr lang="en-IN" sz="1500" dirty="0"/>
          </a:p>
          <a:p>
            <a:pPr lvl="1"/>
            <a:r>
              <a:rPr lang="en-IN" sz="1500" b="1" dirty="0"/>
              <a:t>Overcoming Legacy ATS Limitations:</a:t>
            </a:r>
            <a:r>
              <a:rPr lang="en-IN" sz="1500" dirty="0"/>
              <a:t> Traditional Applicant Tracking Systems rely on rigid keyword matching, disqualifying top candidates due to minor layout or synonym variations.</a:t>
            </a:r>
          </a:p>
          <a:p>
            <a:pPr lvl="1"/>
            <a:r>
              <a:rPr lang="en-IN" sz="1500" b="1" dirty="0"/>
              <a:t>Solving Hiring Bottlenecks:</a:t>
            </a:r>
            <a:r>
              <a:rPr lang="en-IN" sz="1500" dirty="0"/>
              <a:t> Human recruiters face overwhelming resume volumes, causing slow response times and inefficient candidate screening.</a:t>
            </a:r>
          </a:p>
          <a:p>
            <a:pPr lvl="0"/>
            <a:r>
              <a:rPr lang="en-IN" sz="1500" b="1" dirty="0"/>
              <a:t>Core Project Objectives:</a:t>
            </a:r>
            <a:endParaRPr lang="en-IN" sz="1500" dirty="0"/>
          </a:p>
          <a:p>
            <a:pPr lvl="1"/>
            <a:r>
              <a:rPr lang="en-IN" sz="1500" b="1" dirty="0"/>
              <a:t>Build Context-Aware Match Scoring:</a:t>
            </a:r>
            <a:r>
              <a:rPr lang="en-IN" sz="1500" dirty="0"/>
              <a:t> Develop an LLM and NLP engine that evaluates true semantic candidate-job compatibility rather than simple keyword counts.</a:t>
            </a:r>
          </a:p>
          <a:p>
            <a:pPr lvl="1"/>
            <a:r>
              <a:rPr lang="en-IN" sz="1500" b="1" dirty="0"/>
              <a:t>Automate Skill Gap Diagnostics:</a:t>
            </a:r>
            <a:r>
              <a:rPr lang="en-IN" sz="1500" dirty="0"/>
              <a:t> Instantly isolate missing technical qualifications and generate targeted upskilling roadmaps for applicants.</a:t>
            </a:r>
          </a:p>
          <a:p>
            <a:pPr lvl="1"/>
            <a:r>
              <a:rPr lang="en-IN" sz="1500" b="1" dirty="0"/>
              <a:t>Audit ATS Readability:</a:t>
            </a:r>
            <a:r>
              <a:rPr lang="en-IN" sz="1500" dirty="0"/>
              <a:t> Scan resume structures for parsing defects, non-standard section headers, and unreadable formatting to improve document pass rates.</a:t>
            </a:r>
          </a:p>
          <a:p>
            <a:pPr lvl="1"/>
            <a:r>
              <a:rPr lang="en-IN" sz="1500" b="1" dirty="0"/>
              <a:t>Enable Bulk Candidate Ranking:</a:t>
            </a:r>
            <a:r>
              <a:rPr lang="en-IN" sz="1500" dirty="0"/>
              <a:t> Process multi-resume applicant pools in parallel to construct automated, exportable candidate leaderboards.</a:t>
            </a:r>
          </a:p>
          <a:p>
            <a:pPr lvl="0"/>
            <a:r>
              <a:rPr lang="en-IN" sz="1500" b="1" dirty="0"/>
              <a:t> Usage &amp; Applications:</a:t>
            </a:r>
            <a:endParaRPr lang="en-IN" sz="1500" dirty="0"/>
          </a:p>
          <a:p>
            <a:pPr lvl="1"/>
            <a:r>
              <a:rPr lang="en-IN" sz="1500" b="1" dirty="0"/>
              <a:t>For Recruiters &amp; Hiring Managers:</a:t>
            </a:r>
            <a:r>
              <a:rPr lang="en-IN" sz="1500" dirty="0"/>
              <a:t> Accelerates candidate shortlisting, reduces screening time from hours to seconds, and automatically synthesizes role-specific interview kits.</a:t>
            </a:r>
          </a:p>
          <a:p>
            <a:pPr lvl="1"/>
            <a:r>
              <a:rPr lang="en-IN" sz="1500" b="1" dirty="0"/>
              <a:t>For Applicants &amp; Job Seekers:</a:t>
            </a:r>
            <a:r>
              <a:rPr lang="en-IN" sz="1500" dirty="0"/>
              <a:t> Serves as a formatting diagnostic tool to identify resume weaknesses, improve ATS compatibility, and address key skill gaps.</a:t>
            </a:r>
          </a:p>
          <a:p>
            <a:pPr marL="0" indent="0" algn="just">
              <a:buNone/>
            </a:pP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2951823"/>
      </p:ext>
    </p:extLst>
  </p:cSld>
  <p:clrMapOvr>
    <a:masterClrMapping/>
  </p:clrMapOvr>
  <p:transition spd="slow">
    <p:blinds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3446" y="0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Used / Course Description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19241"/>
            <a:ext cx="10515600" cy="4058194"/>
          </a:xfrm>
        </p:spPr>
        <p:txBody>
          <a:bodyPr/>
          <a:lstStyle/>
          <a:p>
            <a:pPr lvl="0"/>
            <a:r>
              <a:rPr lang="en-IN" sz="2000" b="1" dirty="0"/>
              <a:t>Architectural Overview:</a:t>
            </a:r>
            <a:endParaRPr lang="en-IN" sz="2000" dirty="0"/>
          </a:p>
          <a:p>
            <a:pPr lvl="1"/>
            <a:r>
              <a:rPr lang="en-IN" sz="2000" b="1" dirty="0"/>
              <a:t>Hybrid Intelligence Framework:</a:t>
            </a:r>
            <a:r>
              <a:rPr lang="en-IN" sz="2000" dirty="0"/>
              <a:t> Combines cloud-based Large Language Models (LLMs) with local Natural Language Processing (NLP) fallback tools for reliable execution.</a:t>
            </a:r>
          </a:p>
          <a:p>
            <a:pPr lvl="1"/>
            <a:r>
              <a:rPr lang="en-IN" sz="2000" b="1" dirty="0"/>
              <a:t>Layered Processing Pipeline:</a:t>
            </a:r>
            <a:r>
              <a:rPr lang="en-IN" sz="2000" dirty="0"/>
              <a:t> Built using a modular sequence separating user input, text extraction, model evaluation, and report generation.</a:t>
            </a:r>
          </a:p>
          <a:p>
            <a:pPr lvl="0"/>
            <a:r>
              <a:rPr lang="en-IN" sz="2000" b="1" dirty="0"/>
              <a:t>Sequential Execution Flow:</a:t>
            </a:r>
            <a:endParaRPr lang="en-IN" sz="2000" dirty="0"/>
          </a:p>
          <a:p>
            <a:pPr lvl="1"/>
            <a:r>
              <a:rPr lang="en-IN" sz="2000" b="1" dirty="0"/>
              <a:t>Input Ingestion:</a:t>
            </a:r>
            <a:r>
              <a:rPr lang="en-IN" sz="2000" dirty="0"/>
              <a:t> Captures candidate resumes and job descriptions through a </a:t>
            </a:r>
            <a:r>
              <a:rPr lang="en-IN" sz="2000" dirty="0" err="1"/>
              <a:t>Streamlit</a:t>
            </a:r>
            <a:r>
              <a:rPr lang="en-IN" sz="2000" dirty="0"/>
              <a:t> control interface.</a:t>
            </a:r>
          </a:p>
          <a:p>
            <a:pPr lvl="1"/>
            <a:r>
              <a:rPr lang="en-IN" sz="2000" b="1" dirty="0"/>
              <a:t>Text Extraction &amp; Normalization:</a:t>
            </a:r>
            <a:r>
              <a:rPr lang="en-IN" sz="2000" dirty="0"/>
              <a:t> Converts multi-format files into clean text strings, applying Optical Character Recognition (OCR) for scanned PDFs.</a:t>
            </a:r>
          </a:p>
          <a:p>
            <a:pPr lvl="1"/>
            <a:r>
              <a:rPr lang="en-IN" sz="2000" b="1" dirty="0"/>
              <a:t>Contextual &amp; Rule Processing:</a:t>
            </a:r>
            <a:r>
              <a:rPr lang="en-IN" sz="2000" dirty="0"/>
              <a:t> Passes normalized text to Gemini LLM APIs for contextual scoring or to local tokenizers for fallback keyword matching.</a:t>
            </a:r>
          </a:p>
          <a:p>
            <a:pPr lvl="1"/>
            <a:r>
              <a:rPr lang="en-IN" sz="2000" b="1" dirty="0"/>
              <a:t>Output Rendering:</a:t>
            </a:r>
            <a:r>
              <a:rPr lang="en-IN" sz="2000" dirty="0"/>
              <a:t> Displays match scores, skill gap breakdowns, ATS readability warnings, and interview questions in real time.</a:t>
            </a:r>
          </a:p>
          <a:p>
            <a:pPr algn="just"/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958729"/>
      </p:ext>
    </p:extLst>
  </p:cSld>
  <p:clrMapOvr>
    <a:masterClrMapping/>
  </p:clrMapOvr>
  <p:transition spd="slow">
    <p:blinds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12B25-5690-94D1-4453-783EBB2C2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564" y="-252413"/>
            <a:ext cx="10515600" cy="1325563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Used / Course Description 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C1791-D394-F46B-FFC4-433AD2E0B4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564" y="761323"/>
            <a:ext cx="10515600" cy="4351338"/>
          </a:xfrm>
        </p:spPr>
        <p:txBody>
          <a:bodyPr/>
          <a:lstStyle/>
          <a:p>
            <a:pPr lvl="0"/>
            <a:r>
              <a:rPr lang="en-IN" sz="2000" b="1" dirty="0"/>
              <a:t>Multi-Format Document Extraction Module:</a:t>
            </a:r>
            <a:endParaRPr lang="en-IN" sz="2000" dirty="0"/>
          </a:p>
          <a:p>
            <a:pPr lvl="1"/>
            <a:r>
              <a:rPr lang="en-IN" sz="2000" dirty="0"/>
              <a:t>Uses specialized Python libraries (</a:t>
            </a:r>
            <a:r>
              <a:rPr lang="en-IN" sz="2000" dirty="0" err="1"/>
              <a:t>pdfplumber</a:t>
            </a:r>
            <a:r>
              <a:rPr lang="en-IN" sz="2000" dirty="0"/>
              <a:t>, python-docx) to parse native digital files.</a:t>
            </a:r>
          </a:p>
          <a:p>
            <a:pPr lvl="1"/>
            <a:r>
              <a:rPr lang="en-IN" sz="2000" dirty="0"/>
              <a:t>Integrates Tesseract OCR to extract readable text from scanned images and </a:t>
            </a:r>
            <a:r>
              <a:rPr lang="en-IN" sz="2000" dirty="0" err="1"/>
              <a:t>unselectable</a:t>
            </a:r>
            <a:r>
              <a:rPr lang="en-IN" sz="2000" dirty="0"/>
              <a:t> document layouts.</a:t>
            </a:r>
          </a:p>
          <a:p>
            <a:pPr lvl="0"/>
            <a:r>
              <a:rPr lang="en-IN" sz="2000" b="1" dirty="0"/>
              <a:t>NLP &amp; Contextual Matching Engine:</a:t>
            </a:r>
            <a:endParaRPr lang="en-IN" sz="2000" dirty="0"/>
          </a:p>
          <a:p>
            <a:pPr lvl="1"/>
            <a:r>
              <a:rPr lang="en-IN" sz="2000" b="1" dirty="0"/>
              <a:t>Tokenization &amp; Cleaning:</a:t>
            </a:r>
            <a:r>
              <a:rPr lang="en-IN" sz="2000" dirty="0"/>
              <a:t> Executes regular expression filters and text normalization to remove special symbol noise and formatting clutters.</a:t>
            </a:r>
          </a:p>
          <a:p>
            <a:pPr lvl="1"/>
            <a:r>
              <a:rPr lang="en-IN" sz="2000" b="1" dirty="0"/>
              <a:t>Set-Algebra Skill Gap Analysis:</a:t>
            </a:r>
            <a:r>
              <a:rPr lang="en-IN" sz="2000" dirty="0"/>
              <a:t> Conducts set comparisons between job requirements and candidate qualifications to isolate present vs. missing competencies.</a:t>
            </a:r>
          </a:p>
          <a:p>
            <a:pPr lvl="0"/>
            <a:r>
              <a:rPr lang="en-IN" sz="2000" b="1" dirty="0"/>
              <a:t>ATS Structural Diagnostic Routine:</a:t>
            </a:r>
            <a:endParaRPr lang="en-IN" sz="2000" dirty="0"/>
          </a:p>
          <a:p>
            <a:pPr lvl="1"/>
            <a:r>
              <a:rPr lang="en-IN" sz="2000" dirty="0"/>
              <a:t>Runs pattern-matching algorithms to detect non-standard section titles, obfuscated emails, and irregular date notations that trigger ATS parsing failures.</a:t>
            </a:r>
          </a:p>
          <a:p>
            <a:pPr lvl="1"/>
            <a:r>
              <a:rPr lang="en-IN" sz="2000" dirty="0"/>
              <a:t>Computes an </a:t>
            </a:r>
            <a:r>
              <a:rPr lang="en-IN" sz="2000" b="1" dirty="0"/>
              <a:t>ATS Readability Score</a:t>
            </a:r>
            <a:r>
              <a:rPr lang="en-IN" sz="2000" dirty="0"/>
              <a:t> paired with line-by-line formatting remedies.</a:t>
            </a:r>
          </a:p>
          <a:p>
            <a:endParaRPr lang="en-I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6905E4-1B38-CE40-33F1-7C1366858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4581681"/>
      </p:ext>
    </p:extLst>
  </p:cSld>
  <p:clrMapOvr>
    <a:masterClrMapping/>
  </p:clrMapOvr>
  <p:transition spd="slow">
    <p:blinds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6FC00-420E-A663-02C8-CE19B55D3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713" y="-50281"/>
            <a:ext cx="9210207" cy="776288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Used / Course Description 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55621-8D64-1F20-9E3B-86DDFDFD08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713" y="726007"/>
            <a:ext cx="10515600" cy="4351338"/>
          </a:xfrm>
        </p:spPr>
        <p:txBody>
          <a:bodyPr/>
          <a:lstStyle/>
          <a:p>
            <a:pPr lvl="0"/>
            <a:r>
              <a:rPr lang="en-IN" sz="2000" b="1" dirty="0"/>
              <a:t>Offline Fallback &amp; System Resilience:</a:t>
            </a:r>
            <a:endParaRPr lang="en-IN" sz="2000" dirty="0"/>
          </a:p>
          <a:p>
            <a:pPr lvl="1"/>
            <a:r>
              <a:rPr lang="en-IN" sz="2000" b="1" dirty="0"/>
              <a:t>Zero-Downtime Design:</a:t>
            </a:r>
            <a:r>
              <a:rPr lang="en-IN" sz="2000" dirty="0"/>
              <a:t> Automatically routes requests to local NLP rule engines if cloud API quota limits or network outages occur.</a:t>
            </a:r>
          </a:p>
          <a:p>
            <a:pPr lvl="1"/>
            <a:r>
              <a:rPr lang="en-IN" sz="2000" b="1" dirty="0"/>
              <a:t>Token-Level Keyword Matching:</a:t>
            </a:r>
            <a:r>
              <a:rPr lang="en-IN" sz="2000" dirty="0"/>
              <a:t> Calculates term frequency and set overlaps locally to maintain operational continuity without cloud dependencies.</a:t>
            </a:r>
          </a:p>
          <a:p>
            <a:pPr lvl="0"/>
            <a:r>
              <a:rPr lang="en-IN" sz="2000" b="1" dirty="0"/>
              <a:t>Multi-Candidate Batch Evaluation:</a:t>
            </a:r>
            <a:endParaRPr lang="en-IN" sz="2000" dirty="0"/>
          </a:p>
          <a:p>
            <a:pPr lvl="1"/>
            <a:r>
              <a:rPr lang="en-IN" sz="2000" b="1" dirty="0"/>
              <a:t>Parallel Text Processing:</a:t>
            </a:r>
            <a:r>
              <a:rPr lang="en-IN" sz="2000" dirty="0"/>
              <a:t> Parses multiple resume files simultaneously against a single target job specification.</a:t>
            </a:r>
          </a:p>
          <a:p>
            <a:pPr lvl="1"/>
            <a:r>
              <a:rPr lang="en-IN" sz="2000" b="1" dirty="0"/>
              <a:t>Dynamic Leaderboard Generation:</a:t>
            </a:r>
            <a:r>
              <a:rPr lang="en-IN" sz="2000" dirty="0"/>
              <a:t> Ranks applicant pools by relative match scores to generate an instantly sorted candidate table.</a:t>
            </a:r>
          </a:p>
          <a:p>
            <a:pPr lvl="0"/>
            <a:r>
              <a:rPr lang="en-IN" sz="2000" b="1" dirty="0"/>
              <a:t>Data Management &amp; Export Pipeline:</a:t>
            </a:r>
            <a:endParaRPr lang="en-IN" sz="2000" dirty="0"/>
          </a:p>
          <a:p>
            <a:pPr lvl="1"/>
            <a:r>
              <a:rPr lang="en-IN" sz="2000" dirty="0"/>
              <a:t>Converts unstructured AI outputs into structured tabular data.</a:t>
            </a:r>
          </a:p>
          <a:p>
            <a:pPr lvl="1"/>
            <a:r>
              <a:rPr lang="en-IN" sz="2000" dirty="0"/>
              <a:t>Enables recruiters to export comprehensive candidate evaluations as downloadable CSV/spreadsheet files.</a:t>
            </a:r>
          </a:p>
          <a:p>
            <a:endParaRPr lang="en-I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194C65-0927-084A-547C-216CC345D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8910698"/>
      </p:ext>
    </p:extLst>
  </p:cSld>
  <p:clrMapOvr>
    <a:masterClrMapping/>
  </p:clrMapOvr>
  <p:transition spd="slow">
    <p:blinds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08" y="1365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32836"/>
            <a:ext cx="10515600" cy="4351338"/>
          </a:xfrm>
        </p:spPr>
        <p:txBody>
          <a:bodyPr/>
          <a:lstStyle/>
          <a:p>
            <a:pPr lvl="0"/>
            <a:r>
              <a:rPr lang="en-IN" sz="1800" b="1" dirty="0"/>
              <a:t>High Contextual Accuracy:</a:t>
            </a:r>
            <a:endParaRPr lang="en-IN" sz="1800" dirty="0"/>
          </a:p>
          <a:p>
            <a:pPr lvl="1"/>
            <a:r>
              <a:rPr lang="en-IN" sz="1800" dirty="0"/>
              <a:t>Replaced rigid keyword matching with semantic AI screening, delivering accurate candidate evaluations.</a:t>
            </a:r>
          </a:p>
          <a:p>
            <a:pPr lvl="1"/>
            <a:r>
              <a:rPr lang="en-IN" sz="1800" dirty="0"/>
              <a:t>Eliminated repetitive, generic output templates to ensure candidate-specific feedback for every test pair.</a:t>
            </a:r>
          </a:p>
          <a:p>
            <a:pPr lvl="0"/>
            <a:r>
              <a:rPr lang="en-IN" sz="1800" b="1" dirty="0"/>
              <a:t>Precise ATS Formatting Audits:</a:t>
            </a:r>
            <a:endParaRPr lang="en-IN" sz="1800" dirty="0"/>
          </a:p>
          <a:p>
            <a:pPr lvl="1"/>
            <a:r>
              <a:rPr lang="en-IN" sz="1800" dirty="0"/>
              <a:t>Successfully identified non-standard headings, obfuscated contact details, and layout defects.</a:t>
            </a:r>
          </a:p>
          <a:p>
            <a:pPr lvl="1"/>
            <a:r>
              <a:rPr lang="en-IN" sz="1800" dirty="0"/>
              <a:t>Provided actionable formatting remedies alongside accurate ATS Readability Scores.</a:t>
            </a:r>
          </a:p>
          <a:p>
            <a:pPr lvl="0"/>
            <a:r>
              <a:rPr lang="en-IN" sz="1800" b="1" dirty="0"/>
              <a:t>System Speed &amp; Fault Tolerance:</a:t>
            </a:r>
            <a:endParaRPr lang="en-IN" sz="1800" dirty="0"/>
          </a:p>
          <a:p>
            <a:pPr lvl="1"/>
            <a:r>
              <a:rPr lang="en-IN" sz="1800" dirty="0"/>
              <a:t>Achieved rapid execution speeds, averaging under 3 seconds per candidate resume.</a:t>
            </a:r>
          </a:p>
          <a:p>
            <a:pPr lvl="1"/>
            <a:r>
              <a:rPr lang="en-IN" sz="1800" dirty="0"/>
              <a:t>Demonstrated 100% operational uptime by seamlessly executing local NLP fallback logic during simulated API downtime.</a:t>
            </a:r>
          </a:p>
          <a:p>
            <a:pPr lvl="0"/>
            <a:r>
              <a:rPr lang="en-IN" sz="1800" b="1" dirty="0"/>
              <a:t>Automated Batch Ranking:</a:t>
            </a:r>
            <a:endParaRPr lang="en-IN" sz="1800" dirty="0"/>
          </a:p>
          <a:p>
            <a:pPr lvl="1"/>
            <a:r>
              <a:rPr lang="en-IN" sz="1800" dirty="0"/>
              <a:t>Evaluated and ranked multi-candidate applicant pools in parallel against job descriptions.</a:t>
            </a:r>
          </a:p>
          <a:p>
            <a:pPr lvl="1"/>
            <a:r>
              <a:rPr lang="en-IN" sz="1800" dirty="0"/>
              <a:t>Generated dynamic candidate leaderboards with direct CSV export capabilities for easy recruiter sharing.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163375810"/>
      </p:ext>
    </p:extLst>
  </p:cSld>
  <p:clrMapOvr>
    <a:masterClrMapping/>
  </p:clrMapOvr>
  <p:transition spd="slow">
    <p:blinds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1337" y="0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121" y="448023"/>
            <a:ext cx="10515600" cy="4351338"/>
          </a:xfrm>
        </p:spPr>
        <p:txBody>
          <a:bodyPr/>
          <a:lstStyle/>
          <a:p>
            <a:pPr lvl="0"/>
            <a:r>
              <a:rPr lang="en-IN" sz="1800" b="1" dirty="0"/>
              <a:t>Successful Platform Delivery:</a:t>
            </a:r>
            <a:endParaRPr lang="en-IN" sz="1800" dirty="0"/>
          </a:p>
          <a:p>
            <a:pPr lvl="1"/>
            <a:r>
              <a:rPr lang="en-IN" sz="1800" dirty="0"/>
              <a:t>Successfully developed </a:t>
            </a:r>
            <a:r>
              <a:rPr lang="en-IN" sz="1800" b="1" dirty="0" err="1"/>
              <a:t>HireMetrics</a:t>
            </a:r>
            <a:r>
              <a:rPr lang="en-IN" sz="1800" b="1" dirty="0"/>
              <a:t> AI</a:t>
            </a:r>
            <a:r>
              <a:rPr lang="en-IN" sz="1800" dirty="0"/>
              <a:t>, an intelligent recruitment platform bridging cloud-based generative AI with local Natural Language Processing.</a:t>
            </a:r>
          </a:p>
          <a:p>
            <a:pPr lvl="1"/>
            <a:r>
              <a:rPr lang="en-IN" sz="1800" dirty="0"/>
              <a:t>Delivered a complete end-to-end tool capable of contextual candidate scoring, ATS readability auditing, and bulk resume ranking.</a:t>
            </a:r>
          </a:p>
          <a:p>
            <a:pPr lvl="0"/>
            <a:r>
              <a:rPr lang="en-IN" sz="1800" b="1" dirty="0"/>
              <a:t>Core Project Achievements:</a:t>
            </a:r>
            <a:endParaRPr lang="en-IN" sz="1800" dirty="0"/>
          </a:p>
          <a:p>
            <a:pPr lvl="1"/>
            <a:r>
              <a:rPr lang="en-IN" sz="1800" b="1" dirty="0"/>
              <a:t>Eliminated Recruitment Bottlenecks:</a:t>
            </a:r>
            <a:r>
              <a:rPr lang="en-IN" sz="1800" dirty="0"/>
              <a:t> Reduced initial resume screening times from hours to seconds per candidate while removing rigid keyword-matching limitations.</a:t>
            </a:r>
          </a:p>
          <a:p>
            <a:pPr lvl="1"/>
            <a:r>
              <a:rPr lang="en-IN" sz="1800" b="1" dirty="0"/>
              <a:t>Guaranteed High System Reliability:</a:t>
            </a:r>
            <a:r>
              <a:rPr lang="en-IN" sz="1800" dirty="0"/>
              <a:t> Engineered a zero-downtime architecture featuring a local NLP fallback engine that operates seamlessly during API outages.</a:t>
            </a:r>
          </a:p>
          <a:p>
            <a:pPr lvl="1"/>
            <a:r>
              <a:rPr lang="en-IN" sz="1800" b="1" dirty="0"/>
              <a:t>Dual-Impact Value Creation:</a:t>
            </a:r>
            <a:r>
              <a:rPr lang="en-IN" sz="1800" dirty="0"/>
              <a:t> Empowered recruiters with automated shortlisting tools while helping applicants optimize their resumes for ATS compliance.</a:t>
            </a:r>
          </a:p>
          <a:p>
            <a:pPr lvl="0"/>
            <a:r>
              <a:rPr lang="en-IN" sz="1800" b="1" dirty="0"/>
              <a:t>Future Horizons &amp; Extension:</a:t>
            </a:r>
            <a:endParaRPr lang="en-IN" sz="1800" dirty="0"/>
          </a:p>
          <a:p>
            <a:pPr lvl="1"/>
            <a:r>
              <a:rPr lang="en-IN" sz="1800" b="1" dirty="0"/>
              <a:t>Automated Audio Interviewing:</a:t>
            </a:r>
            <a:r>
              <a:rPr lang="en-IN" sz="1800" dirty="0"/>
              <a:t> Expand system capabilities to </a:t>
            </a:r>
            <a:r>
              <a:rPr lang="en-IN" sz="1800" dirty="0" err="1"/>
              <a:t>analyze</a:t>
            </a:r>
            <a:r>
              <a:rPr lang="en-IN" sz="1800" dirty="0"/>
              <a:t> voice responses for candidate soft skills and spoken domain knowledge.</a:t>
            </a:r>
          </a:p>
          <a:p>
            <a:pPr lvl="1"/>
            <a:r>
              <a:rPr lang="en-IN" sz="1800" b="1" dirty="0"/>
              <a:t>Enterprise HRIS Integration:</a:t>
            </a:r>
            <a:r>
              <a:rPr lang="en-IN" sz="1800" dirty="0"/>
              <a:t> Connect directly with enterprise recruitment platforms (e.g., Workday, Greenhouse) for fully automated ATS workflow synchronization.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37392139"/>
      </p:ext>
    </p:extLst>
  </p:cSld>
  <p:clrMapOvr>
    <a:masterClrMapping/>
  </p:clrMapOvr>
  <p:transition spd="slow">
    <p:blinds dir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12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58975439"/>
      </p:ext>
    </p:extLst>
  </p:cSld>
  <p:clrMapOvr>
    <a:masterClrMapping/>
  </p:clrMapOvr>
  <p:transition spd="slow">
    <p:blinds dir="ver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8440382"/>
      </p:ext>
    </p:extLst>
  </p:cSld>
  <p:clrMapOvr>
    <a:masterClrMapping/>
  </p:clrMapOvr>
  <p:transition spd="slow">
    <p:blinds dir="vert"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7912</TotalTime>
  <Words>1438</Words>
  <Application>Microsoft Office PowerPoint</Application>
  <PresentationFormat>Widescreen</PresentationFormat>
  <Paragraphs>135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About Company or Organization</vt:lpstr>
      <vt:lpstr>Working domain or the technology</vt:lpstr>
      <vt:lpstr>Objectives of the work</vt:lpstr>
      <vt:lpstr>Methodology Used / Course Description </vt:lpstr>
      <vt:lpstr>Methodology Used / Course Description </vt:lpstr>
      <vt:lpstr>Methodology Used / Course Description </vt:lpstr>
      <vt:lpstr>Results</vt:lpstr>
      <vt:lpstr>Conclusion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Preeteesh</dc:creator>
  <cp:lastModifiedBy>deepak gowda</cp:lastModifiedBy>
  <cp:revision>940</cp:revision>
  <cp:lastPrinted>2018-07-24T06:37:20Z</cp:lastPrinted>
  <dcterms:created xsi:type="dcterms:W3CDTF">2018-06-07T04:06:17Z</dcterms:created>
  <dcterms:modified xsi:type="dcterms:W3CDTF">2026-08-06T17:14:56Z</dcterms:modified>
</cp:coreProperties>
</file>